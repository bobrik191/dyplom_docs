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5" r:id="rId6"/>
    <p:sldId id="261" r:id="rId7"/>
    <p:sldId id="262" r:id="rId8"/>
    <p:sldId id="263" r:id="rId9"/>
    <p:sldId id="270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56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C828-EF40-52EF-C05E-C04E6E0D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99B92-E2C4-1297-2D3A-DBCDA247E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2B4E2-A9D9-CB71-EF88-7AF43C0DF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98D1C-E449-E433-7D28-2432D6684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0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316523" y="731519"/>
            <a:ext cx="8423031" cy="1457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Розроблення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веборієнтованої</a:t>
            </a:r>
            <a:r>
              <a:rPr lang="uk-UA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системи створення, проведення та аналізу онлайн-опитувань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16523" y="3291840"/>
            <a:ext cx="44840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</a:t>
            </a: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Зубарев Микола Костянтинович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6523" y="3611880"/>
            <a:ext cx="44840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</a:t>
            </a: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</a:t>
            </a:r>
            <a:r>
              <a:rPr lang="uk-UA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</a:t>
            </a:r>
            <a:r>
              <a:rPr lang="uk-UA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Соколовський Владислав Володимирович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ПРОБЛЕМИ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D0765-F5B7-CA38-9AA8-5B34DFAA863B}"/>
              </a:ext>
            </a:extLst>
          </p:cNvPr>
          <p:cNvSpPr txBox="1"/>
          <p:nvPr/>
        </p:nvSpPr>
        <p:spPr>
          <a:xfrm>
            <a:off x="320040" y="760317"/>
            <a:ext cx="8357968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A" sz="1600" dirty="0"/>
              <a:t>Існуючі комерційні платформи онлайн-опитувань мають закритий вихідний код, обмежений контроль над даними та високу вартість підписок. Функції штучного інтелекту доступні лише у преміум-тарифах, а гнучке розмежування прав доступу відсутнє. Виникає потреба у прозорому, відкритому та масштабованому інструменті для збору й аналізу даних.</a:t>
            </a:r>
          </a:p>
        </p:txBody>
      </p:sp>
      <p:pic>
        <p:nvPicPr>
          <p:cNvPr id="1028" name="Picture 4" descr="Online Surveys: The Need | Enginemailer">
            <a:extLst>
              <a:ext uri="{FF2B5EF4-FFF2-40B4-BE49-F238E27FC236}">
                <a16:creationId xmlns:a16="http://schemas.microsoft.com/office/drawing/2014/main" id="{26C355C6-CEB6-1503-2700-202F6F498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2576124"/>
            <a:ext cx="4686300" cy="240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ТА ЗАВДАННЯ ПРОЄКТУ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CB0827-557B-02D2-FE9B-A7AAFE93416E}"/>
              </a:ext>
            </a:extLst>
          </p:cNvPr>
          <p:cNvSpPr txBox="1"/>
          <p:nvPr/>
        </p:nvSpPr>
        <p:spPr>
          <a:xfrm>
            <a:off x="624253" y="1618576"/>
            <a:ext cx="8080131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A" sz="2000" b="1" dirty="0"/>
              <a:t>Розробка призначена </a:t>
            </a:r>
            <a:r>
              <a:rPr lang="en-UA" sz="2000" dirty="0"/>
              <a:t>для автоматизації процесу створення, проведення та аналізу онлайн-опитувань у відкритій веборієнтованій системі.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7B1C9B-29CE-41AD-6BB4-74FCAEE45093}"/>
              </a:ext>
            </a:extLst>
          </p:cNvPr>
          <p:cNvSpPr txBox="1"/>
          <p:nvPr/>
        </p:nvSpPr>
        <p:spPr>
          <a:xfrm>
            <a:off x="624252" y="3125576"/>
            <a:ext cx="8080131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A" b="1" dirty="0"/>
              <a:t>Метою розробки</a:t>
            </a:r>
            <a:r>
              <a:rPr lang="en-UA" dirty="0"/>
              <a:t> є підвищення доступності та прозорості збору даних за рахунок відкритого вихідного коду, інтеграції штучного інтелекту та аналітичного модуля з автоматичним оновленням.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ПОРІВНЯЛЬНИЙ АНАЛІЗ АНАЛОГІВ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" y="1448269"/>
            <a:ext cx="2331720" cy="41148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48269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98064" y="1448269"/>
            <a:ext cx="1417320" cy="4114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8064" y="1448269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42816" y="1448269"/>
            <a:ext cx="1417320" cy="4114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1448269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SurveyMonkey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87568" y="1448269"/>
            <a:ext cx="1417320" cy="4114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448269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LimeSurvey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1448269"/>
            <a:ext cx="1417320" cy="4114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448269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1859749"/>
            <a:ext cx="23317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597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Відкритий код / self-hosted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98064" y="1859749"/>
            <a:ext cx="14173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8064" y="18597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2816" y="1859749"/>
            <a:ext cx="14173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8597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87568" y="1859749"/>
            <a:ext cx="14173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8597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32320" y="1859749"/>
            <a:ext cx="1417320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8597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912" y="2316949"/>
            <a:ext cx="2331720" cy="457200"/>
          </a:xfrm>
          <a:prstGeom prst="rect">
            <a:avLst/>
          </a:prstGeom>
          <a:solidFill>
            <a:srgbClr val="E0EF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3169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питань (кількість)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98064" y="2316949"/>
            <a:ext cx="141732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8064" y="23169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42816" y="2316949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42816" y="23169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87568" y="2316949"/>
            <a:ext cx="141732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23169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28+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32320" y="2316949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23169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" y="2774149"/>
            <a:ext cx="23317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7741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Безкоштовно (базово)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98064" y="2774149"/>
            <a:ext cx="14173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98064" y="27741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42816" y="2774149"/>
            <a:ext cx="14173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42816" y="27741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87568" y="2774149"/>
            <a:ext cx="14173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7741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32320" y="2774149"/>
            <a:ext cx="1417320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27741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8912" y="3231349"/>
            <a:ext cx="2331720" cy="457200"/>
          </a:xfrm>
          <a:prstGeom prst="rect">
            <a:avLst/>
          </a:prstGeom>
          <a:solidFill>
            <a:srgbClr val="E0EF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2313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ШІ-генерація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98064" y="3231349"/>
            <a:ext cx="141732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98064" y="32313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42816" y="3231349"/>
            <a:ext cx="14173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42816" y="32313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687568" y="3231349"/>
            <a:ext cx="14173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32313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32320" y="3231349"/>
            <a:ext cx="1417320" cy="457200"/>
          </a:xfrm>
          <a:prstGeom prst="rect">
            <a:avLst/>
          </a:prstGeom>
          <a:solidFill>
            <a:srgbClr val="FEF9C3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32313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8912" y="3688549"/>
            <a:ext cx="23317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6885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Аналітика відповідей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98064" y="3688549"/>
            <a:ext cx="141732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98064" y="36885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42816" y="3688549"/>
            <a:ext cx="14173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42816" y="36885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87568" y="3688549"/>
            <a:ext cx="14173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87568" y="36885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132320" y="3688549"/>
            <a:ext cx="1417320" cy="457200"/>
          </a:xfrm>
          <a:prstGeom prst="rect">
            <a:avLst/>
          </a:prstGeom>
          <a:solidFill>
            <a:srgbClr val="FEF9C3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6885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ВАРІАНТИ ВИКОРИСТАННЯ СИСТЕМИ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uk-UA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D0681A8-A1D8-3688-FA00-633F38216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629" y="627861"/>
            <a:ext cx="5450742" cy="4437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 РОЗРОБКИ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uk-UA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Клієнтська частина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7101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288036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089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181409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218688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 частина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18688" y="1188720"/>
            <a:ext cx="2743200" cy="10744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41732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78808" y="1563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218688" y="288036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310896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78808" y="3181409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117336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 даних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117336" y="1188720"/>
            <a:ext cx="27066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141732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77456" y="1546391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6117336" y="2880360"/>
            <a:ext cx="270662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108960"/>
            <a:ext cx="640080" cy="6400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77456" y="3185981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 (C4 MODEL — РІВЕНЬ 2)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41E91A2-EEE0-4CE5-D0D7-06ACA3A51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371" y="612100"/>
            <a:ext cx="6221257" cy="453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ДАНИХ (ER-ДІАГРАМА)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DBC414D-39EA-C255-F191-12F1EACF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119" y="675417"/>
            <a:ext cx="6853761" cy="4251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8340-1EE3-B3A0-0923-48933097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32DEF1-C1F7-7F5A-C7E6-FF867538597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38241F-7697-7111-CCDD-0F8525034EB1}"/>
              </a:ext>
            </a:extLst>
          </p:cNvPr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ШТУЧНОГО ІНТЕЛЕКТУ (GEMINI API)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1F9CE6-423C-6F69-81E7-7AA1ED6E5554}"/>
              </a:ext>
            </a:extLst>
          </p:cNvPr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83E528-3758-B14C-F049-2A1B2FC00E44}"/>
              </a:ext>
            </a:extLst>
          </p:cNvPr>
          <p:cNvSpPr txBox="1"/>
          <p:nvPr/>
        </p:nvSpPr>
        <p:spPr>
          <a:xfrm>
            <a:off x="712177" y="1072662"/>
            <a:ext cx="7851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A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9C03BF-FD97-A459-C411-FBF53532A123}"/>
              </a:ext>
            </a:extLst>
          </p:cNvPr>
          <p:cNvSpPr txBox="1"/>
          <p:nvPr/>
        </p:nvSpPr>
        <p:spPr>
          <a:xfrm>
            <a:off x="606669" y="1142999"/>
            <a:ext cx="777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A" b="1" dirty="0"/>
              <a:t>МЕТА:</a:t>
            </a:r>
            <a:r>
              <a:rPr lang="en-UA" dirty="0"/>
              <a:t> автоматизувати створення структури опитування за рахунок: промпт-інжинірингу для отримання структурованої JSON-відповіді; серверної Zod-валідації результату; rate limiting через Redis (10 запитів/хв); підтримки мультимовності UA/EN.</a:t>
            </a:r>
          </a:p>
          <a:p>
            <a:r>
              <a:rPr lang="en-UA" b="1" dirty="0"/>
              <a:t>ПРИЗНАЧЕННЯ:</a:t>
            </a:r>
            <a:r>
              <a:rPr lang="en-UA" dirty="0"/>
              <a:t> користувач вводить тему → система формує промпт → POST-запит до Gemini API → парсинг та валідація → автоматичне заповнення конструктора опитування.</a:t>
            </a:r>
          </a:p>
        </p:txBody>
      </p:sp>
    </p:spTree>
    <p:extLst>
      <p:ext uri="{BB962C8B-B14F-4D97-AF65-F5344CB8AC3E}">
        <p14:creationId xmlns:p14="http://schemas.microsoft.com/office/powerpoint/2010/main" val="2611619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A"/>
          </a:solidFill>
          <a:ln w="12700">
            <a:solidFill>
              <a:srgbClr val="0D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ПО ПРОЄКТУ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923B49-2844-6559-B7E7-BC3B5ABC6120}"/>
              </a:ext>
            </a:extLst>
          </p:cNvPr>
          <p:cNvSpPr txBox="1"/>
          <p:nvPr/>
        </p:nvSpPr>
        <p:spPr>
          <a:xfrm>
            <a:off x="492368" y="1019908"/>
            <a:ext cx="81153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A" sz="1400" b="1" dirty="0"/>
              <a:t>МЕТА ДОСЯГНУТА:</a:t>
            </a:r>
            <a:r>
              <a:rPr lang="en-UA" sz="1400" dirty="0"/>
              <a:t> підвищено доступність та прозорість процесу збору даних за рахунок: реалізації REST API з JWT-автентифікацією та Zod-валідацією; розробки SPA-конструктора на React + TypeScript; впровадження LLM-генерації через Gemini API; реалізації real-time аналітичного модуля; автозбереження прогресу засобами Redis; підтримки чотирьох рівнів доступу до опитувань.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70042" y="179451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4366</TotalTime>
  <Words>344</Words>
  <Application>Microsoft Macintosh PowerPoint</Application>
  <PresentationFormat>On-screen Show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Розроблення веборієнтованої системи онлайн-опитувань</dc:title>
  <dc:subject>PptxGenJS Presentation</dc:subject>
  <dc:creator>Зубарев Микола Костянтинович</dc:creator>
  <cp:lastModifiedBy>Микола Зубарев</cp:lastModifiedBy>
  <cp:revision>7</cp:revision>
  <dcterms:created xsi:type="dcterms:W3CDTF">2026-05-22T14:07:29Z</dcterms:created>
  <dcterms:modified xsi:type="dcterms:W3CDTF">2026-05-25T15:04:54Z</dcterms:modified>
</cp:coreProperties>
</file>