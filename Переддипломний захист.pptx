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72" r:id="rId4"/>
    <p:sldId id="258" r:id="rId5"/>
    <p:sldId id="259" r:id="rId6"/>
    <p:sldId id="269" r:id="rId7"/>
    <p:sldId id="261" r:id="rId8"/>
    <p:sldId id="262" r:id="rId9"/>
    <p:sldId id="263" r:id="rId10"/>
    <p:sldId id="270" r:id="rId11"/>
    <p:sldId id="267" r:id="rId12"/>
  </p:sldIdLst>
  <p:sldSz cx="12192000" cy="6858000"/>
  <p:notesSz cx="6858000" cy="9144000"/>
  <p:embeddedFontLs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BD4B19-52DF-411B-97EE-710C6558F9A7}">
  <a:tblStyle styleId="{9DBD4B19-52DF-411B-97EE-710C6558F9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31"/>
  </p:normalViewPr>
  <p:slideViewPr>
    <p:cSldViewPr snapToGrid="0">
      <p:cViewPr>
        <p:scale>
          <a:sx n="113" d="100"/>
          <a:sy n="113" d="100"/>
        </p:scale>
        <p:origin x="312" y="-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250F46E-168E-4740-B982-7F93E1A5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4AB62CB-3D71-5CBC-621E-9F0CA5735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8A9E969-21BE-A82A-EE10-B71B3FDF1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8285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6CBF3159-8DD9-8F34-133E-9349B241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7059CBDD-11D8-236C-4E99-77D2EA6FA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>
            <a:extLst>
              <a:ext uri="{FF2B5EF4-FFF2-40B4-BE49-F238E27FC236}">
                <a16:creationId xmlns:a16="http://schemas.microsoft.com/office/drawing/2014/main" id="{36E720DA-C64C-A525-3DF0-1BEE568BF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0846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E6D6C7B3-AE08-16B8-9991-6AEE26BCB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>
            <a:extLst>
              <a:ext uri="{FF2B5EF4-FFF2-40B4-BE49-F238E27FC236}">
                <a16:creationId xmlns:a16="http://schemas.microsoft.com/office/drawing/2014/main" id="{48999626-C459-CDCD-79B6-03573AE7E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:notes">
            <a:extLst>
              <a:ext uri="{FF2B5EF4-FFF2-40B4-BE49-F238E27FC236}">
                <a16:creationId xmlns:a16="http://schemas.microsoft.com/office/drawing/2014/main" id="{9AB42DCE-F7F6-AAB9-BDEA-C1390978FC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0649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557337"/>
            <a:ext cx="11601450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Розроблення</a:t>
            </a:r>
            <a:r>
              <a:rPr lang="en-US" sz="405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50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веборієнтованої</a:t>
            </a:r>
            <a:r>
              <a:rPr lang="en-US" sz="405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50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системи</a:t>
            </a:r>
            <a:r>
              <a:rPr lang="en-US" sz="405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50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створення</a:t>
            </a:r>
            <a:r>
              <a:rPr lang="en-US" sz="405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4050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проведення</a:t>
            </a:r>
            <a:r>
              <a:rPr lang="en-US" sz="405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50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та</a:t>
            </a:r>
            <a:r>
              <a:rPr lang="en-US" sz="405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50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аналізу</a:t>
            </a:r>
            <a:r>
              <a:rPr lang="en-US" sz="405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50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онлайн-опитувань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953456" y="5300663"/>
            <a:ext cx="1028508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Виконав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uk-UA" sz="2000" dirty="0">
                <a:latin typeface="Open Sans"/>
                <a:ea typeface="Open Sans"/>
                <a:cs typeface="Open Sans"/>
                <a:sym typeface="Open Sans"/>
              </a:rPr>
              <a:t>студент групи ІП-23 Зубарев Микола Костянтинович</a:t>
            </a:r>
            <a:br>
              <a:rPr lang="uk-UA" sz="20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uk-UA" sz="2000" b="1" dirty="0">
                <a:latin typeface="Open Sans"/>
                <a:ea typeface="Open Sans"/>
                <a:cs typeface="Open Sans"/>
                <a:sym typeface="Open Sans"/>
              </a:rPr>
              <a:t>Керівник</a:t>
            </a:r>
            <a:r>
              <a:rPr lang="uk-UA" sz="2000" dirty="0">
                <a:latin typeface="Open Sans"/>
                <a:ea typeface="Open Sans"/>
                <a:cs typeface="Open Sans"/>
                <a:sym typeface="Open Sans"/>
              </a:rPr>
              <a:t>: ст. </a:t>
            </a:r>
            <a:r>
              <a:rPr lang="uk-UA" sz="2000" dirty="0" err="1">
                <a:latin typeface="Open Sans"/>
                <a:ea typeface="Open Sans"/>
                <a:cs typeface="Open Sans"/>
                <a:sym typeface="Open Sans"/>
              </a:rPr>
              <a:t>викл</a:t>
            </a:r>
            <a:r>
              <a:rPr lang="uk-UA" sz="2000" dirty="0">
                <a:latin typeface="Open Sans"/>
                <a:ea typeface="Open Sans"/>
                <a:cs typeface="Open Sans"/>
                <a:sym typeface="Open Sans"/>
              </a:rPr>
              <a:t>. Соколовський Владислав Володимирович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АКТУАЛЬНІСТЬ ТА МЕТА ПРОЄКТУ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76200" cy="4191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17478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Проблема: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2109787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Комерційні інструменти збору даних мають обмеження: закритий вихідний код, висока вартість підписок та відсутність гнучкого контролю над збереженням конфіденційних даних.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35671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Мета: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3929062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Створення функціональної Open-Source альтернативи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57250" y="4557712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Інтеграція ШІ для миттєвої генерації структури опитувань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57250" y="5186362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Аналітична обробка відповідей користувачів у реальному часі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290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577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8636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086292-93B6-3806-8325-8D0FDAEF5C06}"/>
              </a:ext>
            </a:extLst>
          </p:cNvPr>
          <p:cNvSpPr txBox="1"/>
          <p:nvPr/>
        </p:nvSpPr>
        <p:spPr>
          <a:xfrm>
            <a:off x="571500" y="612874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2</a:t>
            </a:r>
            <a:endParaRPr lang="en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">
          <a:extLst>
            <a:ext uri="{FF2B5EF4-FFF2-40B4-BE49-F238E27FC236}">
              <a16:creationId xmlns:a16="http://schemas.microsoft.com/office/drawing/2014/main" id="{B3C7E135-B744-4E4F-7C55-2E661F1C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>
            <a:extLst>
              <a:ext uri="{FF2B5EF4-FFF2-40B4-BE49-F238E27FC236}">
                <a16:creationId xmlns:a16="http://schemas.microsoft.com/office/drawing/2014/main" id="{16D5DDED-3492-10A8-6019-EEB3449184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BC20CDB4-EE24-A44E-A1E1-DEF70FDC4554}"/>
              </a:ext>
            </a:extLst>
          </p:cNvPr>
          <p:cNvSpPr txBox="1"/>
          <p:nvPr/>
        </p:nvSpPr>
        <p:spPr>
          <a:xfrm>
            <a:off x="762000" y="57150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АКТУАЛЬНІСТЬ ТА МЕТА ПРОЄКТУ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8DD5D9A9-8DB0-725D-10C1-C97E3821474D}"/>
              </a:ext>
            </a:extLst>
          </p:cNvPr>
          <p:cNvSpPr/>
          <p:nvPr/>
        </p:nvSpPr>
        <p:spPr>
          <a:xfrm>
            <a:off x="571500" y="571500"/>
            <a:ext cx="76200" cy="4191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79C30494-1D53-0654-82CE-F811A1E803E1}"/>
              </a:ext>
            </a:extLst>
          </p:cNvPr>
          <p:cNvSpPr txBox="1"/>
          <p:nvPr/>
        </p:nvSpPr>
        <p:spPr>
          <a:xfrm>
            <a:off x="571500" y="17478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Проблема: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D966843-F882-31FF-A953-6FB9509B295F}"/>
              </a:ext>
            </a:extLst>
          </p:cNvPr>
          <p:cNvSpPr txBox="1"/>
          <p:nvPr/>
        </p:nvSpPr>
        <p:spPr>
          <a:xfrm>
            <a:off x="571500" y="2109787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Комерційні інструменти збору даних мають обмеження: закритий вихідний код, висока вартість підписок та відсутність гнучкого контролю над збереженням конфіденційних даних.</a:t>
            </a:r>
            <a:endParaRPr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A8712162-BB48-67B3-EEBC-CDCF68F63C26}"/>
              </a:ext>
            </a:extLst>
          </p:cNvPr>
          <p:cNvSpPr txBox="1"/>
          <p:nvPr/>
        </p:nvSpPr>
        <p:spPr>
          <a:xfrm>
            <a:off x="571500" y="35671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Мета:</a:t>
            </a:r>
            <a:endParaRPr/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B8DE864-0881-00C2-ACDD-068F08603158}"/>
              </a:ext>
            </a:extLst>
          </p:cNvPr>
          <p:cNvSpPr txBox="1"/>
          <p:nvPr/>
        </p:nvSpPr>
        <p:spPr>
          <a:xfrm>
            <a:off x="857250" y="3929062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Створення функціональної Open-Source альтернативи</a:t>
            </a:r>
            <a:endParaRPr/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465F6D5B-6EB3-5361-3CBE-29B89B0C6CB1}"/>
              </a:ext>
            </a:extLst>
          </p:cNvPr>
          <p:cNvSpPr txBox="1"/>
          <p:nvPr/>
        </p:nvSpPr>
        <p:spPr>
          <a:xfrm>
            <a:off x="857250" y="4557712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Інтеграція ШІ для миттєвої генерації структури опитувань</a:t>
            </a:r>
            <a:endParaRPr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B89ECB41-2BC0-3A27-0550-921E8BDF9EF2}"/>
              </a:ext>
            </a:extLst>
          </p:cNvPr>
          <p:cNvSpPr txBox="1"/>
          <p:nvPr/>
        </p:nvSpPr>
        <p:spPr>
          <a:xfrm>
            <a:off x="857250" y="5186362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Аналітична обробка відповідей користувачів у реальному часі</a:t>
            </a:r>
            <a:endParaRPr/>
          </a:p>
        </p:txBody>
      </p:sp>
      <p:pic>
        <p:nvPicPr>
          <p:cNvPr id="113" name="Google Shape;113;p14" descr="image.png">
            <a:extLst>
              <a:ext uri="{FF2B5EF4-FFF2-40B4-BE49-F238E27FC236}">
                <a16:creationId xmlns:a16="http://schemas.microsoft.com/office/drawing/2014/main" id="{0DA8D8EF-9C80-0E1A-425F-5762A4CD67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290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>
            <a:extLst>
              <a:ext uri="{FF2B5EF4-FFF2-40B4-BE49-F238E27FC236}">
                <a16:creationId xmlns:a16="http://schemas.microsoft.com/office/drawing/2014/main" id="{88628F89-FF0F-D9FA-91A1-D7EAAB22C8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577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>
            <a:extLst>
              <a:ext uri="{FF2B5EF4-FFF2-40B4-BE49-F238E27FC236}">
                <a16:creationId xmlns:a16="http://schemas.microsoft.com/office/drawing/2014/main" id="{E1702E8F-0CD7-D2D0-00C7-540B46FA3E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8636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33E4B3-6D36-8602-0AF7-42F4610DD22A}"/>
              </a:ext>
            </a:extLst>
          </p:cNvPr>
          <p:cNvSpPr txBox="1"/>
          <p:nvPr/>
        </p:nvSpPr>
        <p:spPr>
          <a:xfrm>
            <a:off x="571500" y="612874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2</a:t>
            </a: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4187795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1737"/>
            <a:ext cx="349240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71737"/>
            <a:ext cx="3492549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471737"/>
            <a:ext cx="3492400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ЦІЛЬОВІ АУДИТОРІЇ СИСТЕМИ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76200" cy="4191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670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866775" y="3338512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Маркетинг та Бізнес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66775" y="3557587"/>
            <a:ext cx="2901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Розрахунок індексів лояльності клієнтів (NPS) та дослідження задоволеності продуктом.</a:t>
            </a:r>
            <a:endParaRPr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4925" y="27670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4644925" y="3338512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HR-менеджмент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644925" y="3557587"/>
            <a:ext cx="29019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Регулярне оцінювання залученості команди, збір внутрішніх відгуків та анкетування.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225" y="27670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8423225" y="3338512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Освітній сектор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423225" y="3557587"/>
            <a:ext cx="2901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Організація швидких тестувань знань, збір фідбеку щодо якості викладання дисциплін.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65D61-3BD0-E996-A069-0E855781B608}"/>
              </a:ext>
            </a:extLst>
          </p:cNvPr>
          <p:cNvSpPr txBox="1"/>
          <p:nvPr/>
        </p:nvSpPr>
        <p:spPr>
          <a:xfrm>
            <a:off x="647700" y="59787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3</a:t>
            </a:r>
            <a:endParaRPr lang="en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714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62000" y="57150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ПОРІВНЯЛЬНИЙ АНАЛІЗ АНАЛОГІВ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571500"/>
            <a:ext cx="76200" cy="4191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71500" y="2405062"/>
            <a:ext cx="11049000" cy="27527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16"/>
          <p:cNvGraphicFramePr/>
          <p:nvPr>
            <p:extLst>
              <p:ext uri="{D42A27DB-BD31-4B8C-83A1-F6EECF244321}">
                <p14:modId xmlns:p14="http://schemas.microsoft.com/office/powerpoint/2010/main" val="2931107466"/>
              </p:ext>
            </p:extLst>
          </p:nvPr>
        </p:nvGraphicFramePr>
        <p:xfrm>
          <a:off x="571500" y="2405062"/>
          <a:ext cx="11049000" cy="27526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53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Критерій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Google Forms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SurveyMonkey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Survey App (Мій проєкт)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Відкритий вихідний код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(Повний контроль над даними)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Кількість типів питань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 (Оптимальний набір для бізнесу та навчання)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Інтелектуальна генерація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Відсутня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Лише у платних тарифах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(Безкоштовно через Gemini API)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Аналітика результатів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Базова статична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Розширена (Платна)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Real-time,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Воронки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Карти</a:t>
                      </a:r>
                      <a:endParaRPr dirty="0"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Рівні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доступу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та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видимості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рівні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 рівні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рівні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1" name="Google Shape;151;p16"/>
          <p:cNvSpPr/>
          <p:nvPr/>
        </p:nvSpPr>
        <p:spPr>
          <a:xfrm>
            <a:off x="571500" y="3352800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3108870" y="3352800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832598" y="3352800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7220098" y="3352800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71500" y="3800475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3108870" y="3800475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4832598" y="3800475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7220098" y="3800475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71500" y="4248150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3108870" y="4248150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4832598" y="4248150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7220098" y="4248150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571500" y="4695825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3108870" y="4695825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832598" y="4695825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220098" y="4695825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571500" y="5143500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3108870" y="5143500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4832598" y="5143500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7220098" y="5143500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5473" y="306228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1745" y="306228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1745" y="306228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5473" y="3062287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F6834B-BC4B-7B09-FC47-F6FCB916A8B0}"/>
              </a:ext>
            </a:extLst>
          </p:cNvPr>
          <p:cNvSpPr txBox="1"/>
          <p:nvPr/>
        </p:nvSpPr>
        <p:spPr>
          <a:xfrm>
            <a:off x="569002" y="626442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4</a:t>
            </a:r>
            <a:endParaRPr lang="en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36CC0AE3-FF20-4D75-925F-67A382C5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365C2FC7-1F4F-DC61-3335-723A6B8C29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489" y="2365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B4A73960-D742-B777-B5F4-AAFB6EA15398}"/>
              </a:ext>
            </a:extLst>
          </p:cNvPr>
          <p:cNvSpPr txBox="1"/>
          <p:nvPr/>
        </p:nvSpPr>
        <p:spPr>
          <a:xfrm>
            <a:off x="762000" y="57150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70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ВАРІАНТИ ВИКОРИСТАННЯ СИСТЕМИ</a:t>
            </a:r>
            <a:endParaRPr dirty="0"/>
          </a:p>
        </p:txBody>
      </p:sp>
      <p:sp>
        <p:nvSpPr>
          <p:cNvPr id="146" name="Google Shape;146;p16">
            <a:extLst>
              <a:ext uri="{FF2B5EF4-FFF2-40B4-BE49-F238E27FC236}">
                <a16:creationId xmlns:a16="http://schemas.microsoft.com/office/drawing/2014/main" id="{63E45DC5-5E53-62A9-3570-72B1BAAE4768}"/>
              </a:ext>
            </a:extLst>
          </p:cNvPr>
          <p:cNvSpPr/>
          <p:nvPr/>
        </p:nvSpPr>
        <p:spPr>
          <a:xfrm>
            <a:off x="571500" y="571500"/>
            <a:ext cx="76200" cy="4191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>
            <a:extLst>
              <a:ext uri="{FF2B5EF4-FFF2-40B4-BE49-F238E27FC236}">
                <a16:creationId xmlns:a16="http://schemas.microsoft.com/office/drawing/2014/main" id="{83EE62A3-094A-0C07-AE77-8775D4D905DD}"/>
              </a:ext>
            </a:extLst>
          </p:cNvPr>
          <p:cNvSpPr/>
          <p:nvPr/>
        </p:nvSpPr>
        <p:spPr>
          <a:xfrm>
            <a:off x="571500" y="3352800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81050915-96CB-C976-8414-FFC9F21C2B03}"/>
              </a:ext>
            </a:extLst>
          </p:cNvPr>
          <p:cNvSpPr/>
          <p:nvPr/>
        </p:nvSpPr>
        <p:spPr>
          <a:xfrm>
            <a:off x="3108870" y="3352800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E7C67B98-62DE-9D8F-557D-D4A90C37D1FC}"/>
              </a:ext>
            </a:extLst>
          </p:cNvPr>
          <p:cNvSpPr/>
          <p:nvPr/>
        </p:nvSpPr>
        <p:spPr>
          <a:xfrm>
            <a:off x="4832598" y="3352800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>
            <a:extLst>
              <a:ext uri="{FF2B5EF4-FFF2-40B4-BE49-F238E27FC236}">
                <a16:creationId xmlns:a16="http://schemas.microsoft.com/office/drawing/2014/main" id="{2740FAB5-5E64-E4A1-1D35-48AD3364F755}"/>
              </a:ext>
            </a:extLst>
          </p:cNvPr>
          <p:cNvSpPr/>
          <p:nvPr/>
        </p:nvSpPr>
        <p:spPr>
          <a:xfrm>
            <a:off x="7220098" y="3352800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>
            <a:extLst>
              <a:ext uri="{FF2B5EF4-FFF2-40B4-BE49-F238E27FC236}">
                <a16:creationId xmlns:a16="http://schemas.microsoft.com/office/drawing/2014/main" id="{A0CE20CD-DA50-0029-07AE-F079CE578FDE}"/>
              </a:ext>
            </a:extLst>
          </p:cNvPr>
          <p:cNvSpPr/>
          <p:nvPr/>
        </p:nvSpPr>
        <p:spPr>
          <a:xfrm>
            <a:off x="571500" y="3800475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1D540E66-2981-B99C-753D-9180993B45DC}"/>
              </a:ext>
            </a:extLst>
          </p:cNvPr>
          <p:cNvSpPr/>
          <p:nvPr/>
        </p:nvSpPr>
        <p:spPr>
          <a:xfrm>
            <a:off x="3108870" y="3800475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94228BC5-4BAE-E877-AC19-FEDBE2F5D379}"/>
              </a:ext>
            </a:extLst>
          </p:cNvPr>
          <p:cNvSpPr/>
          <p:nvPr/>
        </p:nvSpPr>
        <p:spPr>
          <a:xfrm>
            <a:off x="4832598" y="3800475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>
            <a:extLst>
              <a:ext uri="{FF2B5EF4-FFF2-40B4-BE49-F238E27FC236}">
                <a16:creationId xmlns:a16="http://schemas.microsoft.com/office/drawing/2014/main" id="{AC9BCB62-B53F-ACD8-1146-14DC96C560A6}"/>
              </a:ext>
            </a:extLst>
          </p:cNvPr>
          <p:cNvSpPr/>
          <p:nvPr/>
        </p:nvSpPr>
        <p:spPr>
          <a:xfrm>
            <a:off x="7220098" y="3800475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00F89C4C-F199-B0F8-5CE1-15E2841F6809}"/>
              </a:ext>
            </a:extLst>
          </p:cNvPr>
          <p:cNvSpPr/>
          <p:nvPr/>
        </p:nvSpPr>
        <p:spPr>
          <a:xfrm>
            <a:off x="571500" y="4248150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>
            <a:extLst>
              <a:ext uri="{FF2B5EF4-FFF2-40B4-BE49-F238E27FC236}">
                <a16:creationId xmlns:a16="http://schemas.microsoft.com/office/drawing/2014/main" id="{D85C876D-9CA7-A3ED-4C9C-B5BB876DB5FE}"/>
              </a:ext>
            </a:extLst>
          </p:cNvPr>
          <p:cNvSpPr/>
          <p:nvPr/>
        </p:nvSpPr>
        <p:spPr>
          <a:xfrm>
            <a:off x="3108870" y="4248150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8783035A-C989-2FE5-2A89-726C50538E31}"/>
              </a:ext>
            </a:extLst>
          </p:cNvPr>
          <p:cNvSpPr/>
          <p:nvPr/>
        </p:nvSpPr>
        <p:spPr>
          <a:xfrm>
            <a:off x="4832598" y="4248150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>
            <a:extLst>
              <a:ext uri="{FF2B5EF4-FFF2-40B4-BE49-F238E27FC236}">
                <a16:creationId xmlns:a16="http://schemas.microsoft.com/office/drawing/2014/main" id="{A2E0E59A-509A-BAE1-8C11-26B21B624386}"/>
              </a:ext>
            </a:extLst>
          </p:cNvPr>
          <p:cNvSpPr/>
          <p:nvPr/>
        </p:nvSpPr>
        <p:spPr>
          <a:xfrm>
            <a:off x="7220098" y="4248150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>
            <a:extLst>
              <a:ext uri="{FF2B5EF4-FFF2-40B4-BE49-F238E27FC236}">
                <a16:creationId xmlns:a16="http://schemas.microsoft.com/office/drawing/2014/main" id="{765E62F4-495E-D759-7979-225F7629D8CF}"/>
              </a:ext>
            </a:extLst>
          </p:cNvPr>
          <p:cNvSpPr/>
          <p:nvPr/>
        </p:nvSpPr>
        <p:spPr>
          <a:xfrm>
            <a:off x="571500" y="4695825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>
            <a:extLst>
              <a:ext uri="{FF2B5EF4-FFF2-40B4-BE49-F238E27FC236}">
                <a16:creationId xmlns:a16="http://schemas.microsoft.com/office/drawing/2014/main" id="{FE3BDA7D-CA38-103E-9C7A-D0E7B8280F8E}"/>
              </a:ext>
            </a:extLst>
          </p:cNvPr>
          <p:cNvSpPr/>
          <p:nvPr/>
        </p:nvSpPr>
        <p:spPr>
          <a:xfrm>
            <a:off x="3108870" y="4695825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>
            <a:extLst>
              <a:ext uri="{FF2B5EF4-FFF2-40B4-BE49-F238E27FC236}">
                <a16:creationId xmlns:a16="http://schemas.microsoft.com/office/drawing/2014/main" id="{63D5805C-84C3-ED5B-E862-D0FE87D685D7}"/>
              </a:ext>
            </a:extLst>
          </p:cNvPr>
          <p:cNvSpPr/>
          <p:nvPr/>
        </p:nvSpPr>
        <p:spPr>
          <a:xfrm>
            <a:off x="4832598" y="4695825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>
            <a:extLst>
              <a:ext uri="{FF2B5EF4-FFF2-40B4-BE49-F238E27FC236}">
                <a16:creationId xmlns:a16="http://schemas.microsoft.com/office/drawing/2014/main" id="{CBAD3794-FB87-B970-DD9D-ACFA79A7B77D}"/>
              </a:ext>
            </a:extLst>
          </p:cNvPr>
          <p:cNvSpPr/>
          <p:nvPr/>
        </p:nvSpPr>
        <p:spPr>
          <a:xfrm>
            <a:off x="7220098" y="4695825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>
            <a:extLst>
              <a:ext uri="{FF2B5EF4-FFF2-40B4-BE49-F238E27FC236}">
                <a16:creationId xmlns:a16="http://schemas.microsoft.com/office/drawing/2014/main" id="{11794C06-60F0-1FFC-BDCC-4C02FEB82A4D}"/>
              </a:ext>
            </a:extLst>
          </p:cNvPr>
          <p:cNvSpPr/>
          <p:nvPr/>
        </p:nvSpPr>
        <p:spPr>
          <a:xfrm>
            <a:off x="571500" y="5143500"/>
            <a:ext cx="25373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>
            <a:extLst>
              <a:ext uri="{FF2B5EF4-FFF2-40B4-BE49-F238E27FC236}">
                <a16:creationId xmlns:a16="http://schemas.microsoft.com/office/drawing/2014/main" id="{0106DD5F-0C62-163C-E530-A4E749982623}"/>
              </a:ext>
            </a:extLst>
          </p:cNvPr>
          <p:cNvSpPr/>
          <p:nvPr/>
        </p:nvSpPr>
        <p:spPr>
          <a:xfrm>
            <a:off x="3108870" y="5143500"/>
            <a:ext cx="17237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>
            <a:extLst>
              <a:ext uri="{FF2B5EF4-FFF2-40B4-BE49-F238E27FC236}">
                <a16:creationId xmlns:a16="http://schemas.microsoft.com/office/drawing/2014/main" id="{51A4A205-75B1-D2C4-3E31-976D7BF1C2D9}"/>
              </a:ext>
            </a:extLst>
          </p:cNvPr>
          <p:cNvSpPr/>
          <p:nvPr/>
        </p:nvSpPr>
        <p:spPr>
          <a:xfrm>
            <a:off x="4832598" y="5143500"/>
            <a:ext cx="238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>
            <a:extLst>
              <a:ext uri="{FF2B5EF4-FFF2-40B4-BE49-F238E27FC236}">
                <a16:creationId xmlns:a16="http://schemas.microsoft.com/office/drawing/2014/main" id="{4507CFBC-54C5-E83E-1000-22EED9588965}"/>
              </a:ext>
            </a:extLst>
          </p:cNvPr>
          <p:cNvSpPr/>
          <p:nvPr/>
        </p:nvSpPr>
        <p:spPr>
          <a:xfrm>
            <a:off x="7220098" y="5143500"/>
            <a:ext cx="4400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91A44-C9F5-A6D2-F724-72E080875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016" y="1232550"/>
            <a:ext cx="6568530" cy="57067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82E61D-A950-D690-44CF-100E70784444}"/>
              </a:ext>
            </a:extLst>
          </p:cNvPr>
          <p:cNvSpPr txBox="1"/>
          <p:nvPr/>
        </p:nvSpPr>
        <p:spPr>
          <a:xfrm>
            <a:off x="609600" y="631366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5</a:t>
            </a: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2830864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86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1762"/>
            <a:ext cx="349240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671762"/>
            <a:ext cx="3492549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671762"/>
            <a:ext cx="349240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62000" y="57150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ТЕХНОЛОГІЧНИЙ СТЕК РОЗРОБКИ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571500" y="571500"/>
            <a:ext cx="76200" cy="4191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9670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866775" y="3538537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Клієнтська частина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866775" y="3757612"/>
            <a:ext cx="29018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React, TypeScript</a:t>
            </a:r>
            <a:endParaRPr dirty="0"/>
          </a:p>
        </p:txBody>
      </p:sp>
      <p:pic>
        <p:nvPicPr>
          <p:cNvPr id="218" name="Google Shape;21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4925" y="29670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4644925" y="3538537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Серверна частина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4644925" y="3757612"/>
            <a:ext cx="290199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Node.js, Express</a:t>
            </a:r>
            <a:endParaRPr dirty="0"/>
          </a:p>
        </p:txBody>
      </p:sp>
      <p:pic>
        <p:nvPicPr>
          <p:cNvPr id="221" name="Google Shape;22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225" y="29670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8423225" y="3538537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Бази</a:t>
            </a:r>
            <a:r>
              <a:rPr lang="en-US" sz="1404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404" b="1" i="0" u="none" strike="noStrike" cap="none" dirty="0" err="1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даних</a:t>
            </a:r>
            <a:endParaRPr dirty="0"/>
          </a:p>
        </p:txBody>
      </p:sp>
      <p:sp>
        <p:nvSpPr>
          <p:cNvPr id="223" name="Google Shape;223;p18"/>
          <p:cNvSpPr txBox="1"/>
          <p:nvPr/>
        </p:nvSpPr>
        <p:spPr>
          <a:xfrm>
            <a:off x="8423225" y="3757612"/>
            <a:ext cx="2901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СУБД PostgreSQL, Prisma ORM,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кешування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сесій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у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Redis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AD1275-1F6D-2F25-DBA8-1BEC5B01FAB5}"/>
              </a:ext>
            </a:extLst>
          </p:cNvPr>
          <p:cNvSpPr txBox="1"/>
          <p:nvPr/>
        </p:nvSpPr>
        <p:spPr>
          <a:xfrm>
            <a:off x="647700" y="628812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6</a:t>
            </a:r>
            <a:endParaRPr lang="en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074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762000" y="57150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АРХІТЕКТУРА СИСТЕМИ (C4 MODEL)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71500" y="571500"/>
            <a:ext cx="76200" cy="4191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4">
            <a:extLst>
              <a:ext uri="{FF2B5EF4-FFF2-40B4-BE49-F238E27FC236}">
                <a16:creationId xmlns:a16="http://schemas.microsoft.com/office/drawing/2014/main" id="{1DF3B520-45E1-6B29-2700-FDAEE5E3B5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14"/>
          <a:stretch/>
        </p:blipFill>
        <p:spPr bwMode="auto">
          <a:xfrm>
            <a:off x="7720600" y="110744"/>
            <a:ext cx="3709400" cy="663651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1AD01A-84B4-686F-A888-5B8F30573B69}"/>
              </a:ext>
            </a:extLst>
          </p:cNvPr>
          <p:cNvSpPr txBox="1"/>
          <p:nvPr/>
        </p:nvSpPr>
        <p:spPr>
          <a:xfrm>
            <a:off x="609600" y="60897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7</a:t>
            </a:r>
            <a:endParaRPr lang="en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5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762000" y="57150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ДАНИХ</a:t>
            </a:r>
            <a:endParaRPr dirty="0"/>
          </a:p>
        </p:txBody>
      </p:sp>
      <p:sp>
        <p:nvSpPr>
          <p:cNvPr id="256" name="Google Shape;256;p20"/>
          <p:cNvSpPr/>
          <p:nvPr/>
        </p:nvSpPr>
        <p:spPr>
          <a:xfrm>
            <a:off x="571500" y="571500"/>
            <a:ext cx="76200" cy="4191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6">
            <a:extLst>
              <a:ext uri="{FF2B5EF4-FFF2-40B4-BE49-F238E27FC236}">
                <a16:creationId xmlns:a16="http://schemas.microsoft.com/office/drawing/2014/main" id="{958C6F4D-C72D-8212-2CC7-4C73F8A92E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315" y="1081895"/>
            <a:ext cx="7099369" cy="57761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B4377D-A79F-D64C-FB51-B1C1A003D4DC}"/>
              </a:ext>
            </a:extLst>
          </p:cNvPr>
          <p:cNvSpPr txBox="1"/>
          <p:nvPr/>
        </p:nvSpPr>
        <p:spPr>
          <a:xfrm>
            <a:off x="647700" y="62644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8</a:t>
            </a:r>
            <a:endParaRPr lang="en-U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9F788CB1-69A6-2E1D-E373-8EE33512E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0" descr="image.png">
            <a:extLst>
              <a:ext uri="{FF2B5EF4-FFF2-40B4-BE49-F238E27FC236}">
                <a16:creationId xmlns:a16="http://schemas.microsoft.com/office/drawing/2014/main" id="{0E494B6E-AA4F-286F-E62F-D260709E6D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989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>
            <a:extLst>
              <a:ext uri="{FF2B5EF4-FFF2-40B4-BE49-F238E27FC236}">
                <a16:creationId xmlns:a16="http://schemas.microsoft.com/office/drawing/2014/main" id="{96D628BA-D0AF-A706-B1C0-C1AB5E98F21B}"/>
              </a:ext>
            </a:extLst>
          </p:cNvPr>
          <p:cNvSpPr txBox="1"/>
          <p:nvPr/>
        </p:nvSpPr>
        <p:spPr>
          <a:xfrm>
            <a:off x="790575" y="321945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700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ДЕМОНСТРАЦІЯ</a:t>
            </a:r>
            <a:endParaRPr dirty="0"/>
          </a:p>
        </p:txBody>
      </p:sp>
      <p:sp>
        <p:nvSpPr>
          <p:cNvPr id="256" name="Google Shape;256;p20">
            <a:extLst>
              <a:ext uri="{FF2B5EF4-FFF2-40B4-BE49-F238E27FC236}">
                <a16:creationId xmlns:a16="http://schemas.microsoft.com/office/drawing/2014/main" id="{31238324-B4A2-0F9B-3986-5194FBD5B174}"/>
              </a:ext>
            </a:extLst>
          </p:cNvPr>
          <p:cNvSpPr/>
          <p:nvPr/>
        </p:nvSpPr>
        <p:spPr>
          <a:xfrm>
            <a:off x="600075" y="3219450"/>
            <a:ext cx="76200" cy="4191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59BBA-3D42-B4EA-753E-B032A133BE36}"/>
              </a:ext>
            </a:extLst>
          </p:cNvPr>
          <p:cNvSpPr txBox="1"/>
          <p:nvPr/>
        </p:nvSpPr>
        <p:spPr>
          <a:xfrm>
            <a:off x="676275" y="619033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9</a:t>
            </a: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167034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1757362"/>
            <a:ext cx="7620000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4"/>
          <p:cNvSpPr txBox="1"/>
          <p:nvPr/>
        </p:nvSpPr>
        <p:spPr>
          <a:xfrm>
            <a:off x="295275" y="9191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Дякую за увагу!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2581275" y="2052637"/>
            <a:ext cx="73809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4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Висновки</a:t>
            </a:r>
            <a:r>
              <a:rPr lang="en-US" sz="1404" b="1" i="0" u="none" strike="noStrike" cap="none" dirty="0">
                <a:solidFill>
                  <a:srgbClr val="003D7A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dirty="0"/>
          </a:p>
        </p:txBody>
      </p:sp>
      <p:sp>
        <p:nvSpPr>
          <p:cNvPr id="343" name="Google Shape;343;p24"/>
          <p:cNvSpPr txBox="1"/>
          <p:nvPr/>
        </p:nvSpPr>
        <p:spPr>
          <a:xfrm>
            <a:off x="2867025" y="2462212"/>
            <a:ext cx="6743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Спроєктовано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та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програмно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реалізовано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повнофункціональний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MVP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вебсистеми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344" name="Google Shape;344;p24"/>
          <p:cNvSpPr txBox="1"/>
          <p:nvPr/>
        </p:nvSpPr>
        <p:spPr>
          <a:xfrm>
            <a:off x="2867025" y="3090862"/>
            <a:ext cx="6743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Впроваджено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інтеграцію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з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Gemini API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для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автоматизованого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наповнення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контенту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345" name="Google Shape;345;p24"/>
          <p:cNvSpPr txBox="1"/>
          <p:nvPr/>
        </p:nvSpPr>
        <p:spPr>
          <a:xfrm>
            <a:off x="2867025" y="3719512"/>
            <a:ext cx="6743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Забезпечено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відмовостійкість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збору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відповідей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завдяки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механізму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автозбереження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сесій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347" name="Google Shape;34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1275" y="2462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1275" y="3090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1275" y="37195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FDBD8E-AE1D-6967-3B2F-C9C095685357}"/>
              </a:ext>
            </a:extLst>
          </p:cNvPr>
          <p:cNvSpPr txBox="1"/>
          <p:nvPr/>
        </p:nvSpPr>
        <p:spPr>
          <a:xfrm>
            <a:off x="599606" y="5938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10</a:t>
            </a:r>
            <a:endParaRPr lang="en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1526</TotalTime>
  <Words>324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Open Sans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Микола Зубарев</cp:lastModifiedBy>
  <cp:revision>11</cp:revision>
  <dcterms:modified xsi:type="dcterms:W3CDTF">2026-05-22T13:16:59Z</dcterms:modified>
</cp:coreProperties>
</file>